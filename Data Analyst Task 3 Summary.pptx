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70305" y="2650459"/>
            <a:ext cx="6851388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540511"/>
            <a:ext cx="526859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73228" y="1955253"/>
            <a:ext cx="6845543" cy="2101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F4F4F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05375" y="785068"/>
            <a:ext cx="2381250" cy="2381250"/>
            <a:chOff x="4905375" y="785068"/>
            <a:chExt cx="2381250" cy="2381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5375" y="785068"/>
              <a:ext cx="2381249" cy="23812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1650" y="794593"/>
              <a:ext cx="1028699" cy="180974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605709" y="3329640"/>
            <a:ext cx="8980805" cy="272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0000"/>
              </a:lnSpc>
              <a:spcBef>
                <a:spcPts val="100"/>
              </a:spcBef>
            </a:pPr>
            <a:r>
              <a:rPr sz="5400" spc="60" dirty="0"/>
              <a:t>Task</a:t>
            </a:r>
            <a:r>
              <a:rPr sz="5400" spc="-300" dirty="0"/>
              <a:t> </a:t>
            </a:r>
            <a:r>
              <a:rPr sz="5400" spc="-555" dirty="0"/>
              <a:t>3:</a:t>
            </a:r>
            <a:r>
              <a:rPr sz="5400" spc="-300" dirty="0"/>
              <a:t> </a:t>
            </a:r>
            <a:r>
              <a:rPr sz="5400" spc="-125" dirty="0">
                <a:solidFill>
                  <a:srgbClr val="DEFF9A"/>
                </a:solidFill>
              </a:rPr>
              <a:t>Interactive</a:t>
            </a:r>
            <a:r>
              <a:rPr sz="5400" spc="-295" dirty="0">
                <a:solidFill>
                  <a:srgbClr val="DEFF9A"/>
                </a:solidFill>
              </a:rPr>
              <a:t> </a:t>
            </a:r>
            <a:r>
              <a:rPr sz="5400" spc="114" dirty="0"/>
              <a:t>Dashboard </a:t>
            </a:r>
            <a:r>
              <a:rPr sz="5400" spc="190" dirty="0"/>
              <a:t>Summary</a:t>
            </a:r>
            <a:endParaRPr sz="5400"/>
          </a:p>
          <a:p>
            <a:pPr marL="1007110" marR="997585" algn="ctr">
              <a:lnSpc>
                <a:spcPct val="159900"/>
              </a:lnSpc>
              <a:spcBef>
                <a:spcPts val="120"/>
              </a:spcBef>
            </a:pPr>
            <a:r>
              <a:rPr sz="1800" spc="145" dirty="0">
                <a:solidFill>
                  <a:srgbClr val="DAFFDE"/>
                </a:solidFill>
              </a:rPr>
              <a:t>A</a:t>
            </a:r>
            <a:r>
              <a:rPr sz="1800" spc="-80" dirty="0">
                <a:solidFill>
                  <a:srgbClr val="DAFFDE"/>
                </a:solidFill>
              </a:rPr>
              <a:t> </a:t>
            </a:r>
            <a:r>
              <a:rPr sz="1800" spc="-20" dirty="0">
                <a:solidFill>
                  <a:srgbClr val="DAFFDE"/>
                </a:solidFill>
              </a:rPr>
              <a:t>comprehensive</a:t>
            </a:r>
            <a:r>
              <a:rPr sz="1800" spc="-80" dirty="0">
                <a:solidFill>
                  <a:srgbClr val="DAFFDE"/>
                </a:solidFill>
              </a:rPr>
              <a:t> </a:t>
            </a:r>
            <a:r>
              <a:rPr sz="1800" dirty="0">
                <a:solidFill>
                  <a:srgbClr val="DAFFDE"/>
                </a:solidFill>
              </a:rPr>
              <a:t>data</a:t>
            </a:r>
            <a:r>
              <a:rPr sz="1800" spc="-75" dirty="0">
                <a:solidFill>
                  <a:srgbClr val="DAFFDE"/>
                </a:solidFill>
              </a:rPr>
              <a:t> </a:t>
            </a:r>
            <a:r>
              <a:rPr sz="1800" spc="-25" dirty="0">
                <a:solidFill>
                  <a:srgbClr val="DAFFDE"/>
                </a:solidFill>
              </a:rPr>
              <a:t>analysis</a:t>
            </a:r>
            <a:r>
              <a:rPr sz="1800" spc="-80" dirty="0">
                <a:solidFill>
                  <a:srgbClr val="DAFFDE"/>
                </a:solidFill>
              </a:rPr>
              <a:t> </a:t>
            </a:r>
            <a:r>
              <a:rPr sz="1800" spc="-20" dirty="0">
                <a:solidFill>
                  <a:srgbClr val="DAFFDE"/>
                </a:solidFill>
              </a:rPr>
              <a:t>of</a:t>
            </a:r>
            <a:r>
              <a:rPr sz="1800" spc="-75" dirty="0">
                <a:solidFill>
                  <a:srgbClr val="DAFFDE"/>
                </a:solidFill>
              </a:rPr>
              <a:t> </a:t>
            </a:r>
            <a:r>
              <a:rPr sz="1800" dirty="0">
                <a:solidFill>
                  <a:srgbClr val="DAFFDE"/>
                </a:solidFill>
              </a:rPr>
              <a:t>sales</a:t>
            </a:r>
            <a:r>
              <a:rPr sz="1800" spc="-80" dirty="0">
                <a:solidFill>
                  <a:srgbClr val="DAFFDE"/>
                </a:solidFill>
              </a:rPr>
              <a:t> </a:t>
            </a:r>
            <a:r>
              <a:rPr sz="1800" dirty="0">
                <a:solidFill>
                  <a:srgbClr val="DAFFDE"/>
                </a:solidFill>
              </a:rPr>
              <a:t>&amp;</a:t>
            </a:r>
            <a:r>
              <a:rPr sz="1800" spc="-75" dirty="0">
                <a:solidFill>
                  <a:srgbClr val="DAFFDE"/>
                </a:solidFill>
              </a:rPr>
              <a:t> </a:t>
            </a:r>
            <a:r>
              <a:rPr sz="1800" spc="-65" dirty="0">
                <a:solidFill>
                  <a:srgbClr val="DAFFDE"/>
                </a:solidFill>
              </a:rPr>
              <a:t>financial</a:t>
            </a:r>
            <a:r>
              <a:rPr sz="1800" spc="-80" dirty="0">
                <a:solidFill>
                  <a:srgbClr val="DAFFDE"/>
                </a:solidFill>
              </a:rPr>
              <a:t> </a:t>
            </a:r>
            <a:r>
              <a:rPr sz="1800" dirty="0">
                <a:solidFill>
                  <a:srgbClr val="DAFFDE"/>
                </a:solidFill>
              </a:rPr>
              <a:t>performance</a:t>
            </a:r>
            <a:r>
              <a:rPr sz="1800" spc="-80" dirty="0">
                <a:solidFill>
                  <a:srgbClr val="DAFFDE"/>
                </a:solidFill>
              </a:rPr>
              <a:t> </a:t>
            </a:r>
            <a:r>
              <a:rPr sz="1800" spc="-10" dirty="0">
                <a:solidFill>
                  <a:srgbClr val="DAFFDE"/>
                </a:solidFill>
              </a:rPr>
              <a:t>using </a:t>
            </a:r>
            <a:r>
              <a:rPr sz="1800" dirty="0">
                <a:solidFill>
                  <a:srgbClr val="DAFFDE"/>
                </a:solidFill>
              </a:rPr>
              <a:t>Google</a:t>
            </a:r>
            <a:r>
              <a:rPr sz="1800" spc="-5" dirty="0">
                <a:solidFill>
                  <a:srgbClr val="DAFFDE"/>
                </a:solidFill>
              </a:rPr>
              <a:t> </a:t>
            </a:r>
            <a:r>
              <a:rPr sz="1800" dirty="0">
                <a:solidFill>
                  <a:srgbClr val="DAFFDE"/>
                </a:solidFill>
              </a:rPr>
              <a:t>Colab</a:t>
            </a:r>
            <a:r>
              <a:rPr sz="1800" spc="-10" dirty="0">
                <a:solidFill>
                  <a:srgbClr val="DAFFDE"/>
                </a:solidFill>
              </a:rPr>
              <a:t> </a:t>
            </a:r>
            <a:r>
              <a:rPr sz="1800" dirty="0">
                <a:solidFill>
                  <a:srgbClr val="DAFFDE"/>
                </a:solidFill>
              </a:rPr>
              <a:t>and</a:t>
            </a:r>
            <a:r>
              <a:rPr sz="1800" spc="-5" dirty="0">
                <a:solidFill>
                  <a:srgbClr val="DAFFDE"/>
                </a:solidFill>
              </a:rPr>
              <a:t> </a:t>
            </a:r>
            <a:r>
              <a:rPr sz="1800" spc="-40" dirty="0">
                <a:solidFill>
                  <a:srgbClr val="DAFFDE"/>
                </a:solidFill>
              </a:rPr>
              <a:t>Python</a:t>
            </a:r>
            <a:r>
              <a:rPr sz="1800" spc="-5" dirty="0">
                <a:solidFill>
                  <a:srgbClr val="DAFFDE"/>
                </a:solidFill>
              </a:rPr>
              <a:t> </a:t>
            </a:r>
            <a:r>
              <a:rPr sz="1800" spc="-10" dirty="0">
                <a:solidFill>
                  <a:srgbClr val="DAFFDE"/>
                </a:solidFill>
              </a:rPr>
              <a:t>libraries.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562225"/>
            <a:ext cx="3492399" cy="266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650" y="2562225"/>
            <a:ext cx="3492548" cy="2666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7950" y="2562225"/>
            <a:ext cx="3492399" cy="26669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62025" y="2952750"/>
            <a:ext cx="571500" cy="571500"/>
            <a:chOff x="962025" y="2952750"/>
            <a:chExt cx="571500" cy="5715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2025" y="2952750"/>
              <a:ext cx="571499" cy="57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3475" y="3124200"/>
              <a:ext cx="228599" cy="2285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49325" y="3739007"/>
            <a:ext cx="2592070" cy="108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DEFF9A"/>
                </a:solidFill>
                <a:latin typeface="Trebuchet MS"/>
                <a:cs typeface="Trebuchet MS"/>
              </a:rPr>
              <a:t>Objectives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100"/>
              </a:spcBef>
            </a:pPr>
            <a:r>
              <a:rPr sz="1500" spc="-30" dirty="0">
                <a:solidFill>
                  <a:srgbClr val="DAFFDE"/>
                </a:solidFill>
                <a:latin typeface="Trebuchet MS"/>
                <a:cs typeface="Trebuchet MS"/>
              </a:rPr>
              <a:t>Defining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AFFDE"/>
                </a:solidFill>
                <a:latin typeface="Trebuchet MS"/>
                <a:cs typeface="Trebuchet MS"/>
              </a:rPr>
              <a:t>the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goal</a:t>
            </a:r>
            <a:r>
              <a:rPr sz="1500" spc="-5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of stakeholder-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focused</a:t>
            </a:r>
            <a:r>
              <a:rPr sz="1500" spc="4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reporting.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40175" y="2952750"/>
            <a:ext cx="571500" cy="571500"/>
            <a:chOff x="4740175" y="2952750"/>
            <a:chExt cx="571500" cy="57150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0175" y="2952750"/>
              <a:ext cx="571499" cy="5714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0769" y="3143250"/>
              <a:ext cx="219455" cy="20002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727475" y="3739007"/>
            <a:ext cx="2124710" cy="108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DEFF9A"/>
                </a:solidFill>
                <a:latin typeface="Trebuchet MS"/>
                <a:cs typeface="Trebuchet MS"/>
              </a:rPr>
              <a:t>Analytics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100"/>
              </a:spcBef>
            </a:pPr>
            <a:r>
              <a:rPr sz="1500" spc="-40" dirty="0">
                <a:solidFill>
                  <a:srgbClr val="DAFFDE"/>
                </a:solidFill>
                <a:latin typeface="Trebuchet MS"/>
                <a:cs typeface="Trebuchet MS"/>
              </a:rPr>
              <a:t>Visual</a:t>
            </a:r>
            <a:r>
              <a:rPr sz="1500" spc="-7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breakdown</a:t>
            </a:r>
            <a:r>
              <a:rPr sz="1500" spc="-7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of</a:t>
            </a:r>
            <a:r>
              <a:rPr sz="1500" spc="-7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DAFFDE"/>
                </a:solidFill>
                <a:latin typeface="Trebuchet MS"/>
                <a:cs typeface="Trebuchet MS"/>
              </a:rPr>
              <a:t>KPIs, 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Trends,</a:t>
            </a:r>
            <a:r>
              <a:rPr sz="1500" spc="-3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and</a:t>
            </a:r>
            <a:r>
              <a:rPr sz="1500" spc="-3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Segments.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518475" y="2952750"/>
            <a:ext cx="571500" cy="571500"/>
            <a:chOff x="8518475" y="2952750"/>
            <a:chExt cx="571500" cy="57150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18475" y="2952750"/>
              <a:ext cx="571499" cy="5714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61350" y="3124200"/>
              <a:ext cx="285749" cy="2285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505775" y="3739007"/>
            <a:ext cx="2246630" cy="108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DEFF9A"/>
                </a:solidFill>
                <a:latin typeface="Trebuchet MS"/>
                <a:cs typeface="Trebuchet MS"/>
              </a:rPr>
              <a:t>Technical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100"/>
              </a:spcBef>
            </a:pP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Review</a:t>
            </a:r>
            <a:r>
              <a:rPr sz="150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of</a:t>
            </a:r>
            <a:r>
              <a:rPr sz="150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AFFDE"/>
                </a:solidFill>
                <a:latin typeface="Trebuchet MS"/>
                <a:cs typeface="Trebuchet MS"/>
              </a:rPr>
              <a:t>Python</a:t>
            </a:r>
            <a:r>
              <a:rPr sz="150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AFFDE"/>
                </a:solidFill>
                <a:latin typeface="Trebuchet MS"/>
                <a:cs typeface="Trebuchet MS"/>
              </a:rPr>
              <a:t>logic</a:t>
            </a:r>
            <a:r>
              <a:rPr sz="150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and </a:t>
            </a:r>
            <a:r>
              <a:rPr sz="1500" spc="-40" dirty="0">
                <a:solidFill>
                  <a:srgbClr val="DAFFDE"/>
                </a:solidFill>
                <a:latin typeface="Trebuchet MS"/>
                <a:cs typeface="Trebuchet MS"/>
              </a:rPr>
              <a:t>Interview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preparation.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Presentation</a:t>
            </a:r>
            <a:r>
              <a:rPr spc="-190" dirty="0"/>
              <a:t> </a:t>
            </a:r>
            <a:r>
              <a:rPr spc="120" dirty="0">
                <a:solidFill>
                  <a:srgbClr val="DEFF9A"/>
                </a:solidFill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775" dirty="0">
                <a:latin typeface="Trebuchet MS"/>
                <a:cs typeface="Trebuchet MS"/>
              </a:rPr>
              <a:t>01.</a:t>
            </a:r>
            <a:r>
              <a:rPr sz="6000" b="1" spc="-335" dirty="0">
                <a:latin typeface="Trebuchet MS"/>
                <a:cs typeface="Trebuchet MS"/>
              </a:rPr>
              <a:t> </a:t>
            </a:r>
            <a:r>
              <a:rPr sz="6000" b="1" spc="-185" dirty="0">
                <a:latin typeface="Trebuchet MS"/>
                <a:cs typeface="Trebuchet MS"/>
              </a:rPr>
              <a:t>Business</a:t>
            </a:r>
            <a:r>
              <a:rPr sz="6000" b="1" spc="-330" dirty="0">
                <a:latin typeface="Trebuchet MS"/>
                <a:cs typeface="Trebuchet MS"/>
              </a:rPr>
              <a:t> </a:t>
            </a:r>
            <a:r>
              <a:rPr sz="6000" b="1" spc="-60" dirty="0">
                <a:latin typeface="Trebuchet MS"/>
                <a:cs typeface="Trebuchet MS"/>
              </a:rPr>
              <a:t>Context</a:t>
            </a:r>
            <a:endParaRPr sz="6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3706" y="3776695"/>
            <a:ext cx="5179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DAFFDE"/>
                </a:solidFill>
                <a:latin typeface="Trebuchet MS"/>
                <a:cs typeface="Trebuchet MS"/>
              </a:rPr>
              <a:t>Understanding</a:t>
            </a:r>
            <a:r>
              <a:rPr sz="1800" spc="-5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DAFFDE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DAFFDE"/>
                </a:solidFill>
                <a:latin typeface="Trebuchet MS"/>
                <a:cs typeface="Trebuchet MS"/>
              </a:rPr>
              <a:t>data</a:t>
            </a:r>
            <a:r>
              <a:rPr sz="1800" spc="-5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DAFFDE"/>
                </a:solidFill>
                <a:latin typeface="Trebuchet MS"/>
                <a:cs typeface="Trebuchet MS"/>
              </a:rPr>
              <a:t>source</a:t>
            </a:r>
            <a:r>
              <a:rPr sz="1800" spc="-5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DAFFDE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DAFFDE"/>
                </a:solidFill>
                <a:latin typeface="Trebuchet MS"/>
                <a:cs typeface="Trebuchet MS"/>
              </a:rPr>
              <a:t>reporting</a:t>
            </a:r>
            <a:r>
              <a:rPr sz="18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DAFFDE"/>
                </a:solidFill>
                <a:latin typeface="Trebuchet MS"/>
                <a:cs typeface="Trebuchet MS"/>
              </a:rPr>
              <a:t>goals.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0" y="2398960"/>
            <a:ext cx="5238749" cy="29935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92175" y="2378640"/>
            <a:ext cx="42284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Design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an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b="1" spc="-45" dirty="0">
                <a:solidFill>
                  <a:srgbClr val="DAFFDE"/>
                </a:solidFill>
                <a:latin typeface="Trebuchet MS"/>
                <a:cs typeface="Trebuchet MS"/>
              </a:rPr>
              <a:t>Interactive </a:t>
            </a:r>
            <a:r>
              <a:rPr sz="1500" b="1" dirty="0">
                <a:solidFill>
                  <a:srgbClr val="DAFFDE"/>
                </a:solidFill>
                <a:latin typeface="Trebuchet MS"/>
                <a:cs typeface="Trebuchet MS"/>
              </a:rPr>
              <a:t>Dashboard</a:t>
            </a:r>
            <a:r>
              <a:rPr sz="1500" b="1" spc="-5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AFFDE"/>
                </a:solidFill>
                <a:latin typeface="Trebuchet MS"/>
                <a:cs typeface="Trebuchet MS"/>
              </a:rPr>
              <a:t>for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stakeholders.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2175" y="2873940"/>
            <a:ext cx="409765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70" dirty="0">
                <a:solidFill>
                  <a:srgbClr val="DAFFDE"/>
                </a:solidFill>
                <a:latin typeface="Trebuchet MS"/>
                <a:cs typeface="Trebuchet MS"/>
              </a:rPr>
              <a:t>Utilize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AFFDE"/>
                </a:solidFill>
                <a:latin typeface="Trebuchet MS"/>
                <a:cs typeface="Trebuchet MS"/>
              </a:rPr>
              <a:t>Python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AFFDE"/>
                </a:solidFill>
                <a:latin typeface="Trebuchet MS"/>
                <a:cs typeface="Trebuchet MS"/>
              </a:rPr>
              <a:t>libraries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AFFDE"/>
                </a:solidFill>
                <a:latin typeface="Trebuchet MS"/>
                <a:cs typeface="Trebuchet MS"/>
              </a:rPr>
              <a:t>for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DAFFDE"/>
                </a:solidFill>
                <a:latin typeface="Trebuchet MS"/>
                <a:cs typeface="Trebuchet MS"/>
              </a:rPr>
              <a:t>Dynamic</a:t>
            </a:r>
            <a:r>
              <a:rPr sz="1500" b="1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DAFFDE"/>
                </a:solidFill>
                <a:latin typeface="Trebuchet MS"/>
                <a:cs typeface="Trebuchet MS"/>
              </a:rPr>
              <a:t>Visualization</a:t>
            </a:r>
            <a:r>
              <a:rPr sz="1500" spc="-35" dirty="0">
                <a:solidFill>
                  <a:srgbClr val="DAFFDE"/>
                </a:solidFill>
                <a:latin typeface="Trebuchet MS"/>
                <a:cs typeface="Trebuchet MS"/>
              </a:rPr>
              <a:t>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175" y="3369240"/>
            <a:ext cx="47021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Identify</a:t>
            </a:r>
            <a:r>
              <a:rPr sz="1500" spc="-2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DAFFDE"/>
                </a:solidFill>
                <a:latin typeface="Trebuchet MS"/>
                <a:cs typeface="Trebuchet MS"/>
              </a:rPr>
              <a:t>high-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impact</a:t>
            </a:r>
            <a:r>
              <a:rPr sz="1500" spc="-2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b="1" spc="-55" dirty="0">
                <a:solidFill>
                  <a:srgbClr val="DAFFDE"/>
                </a:solidFill>
                <a:latin typeface="Trebuchet MS"/>
                <a:cs typeface="Trebuchet MS"/>
              </a:rPr>
              <a:t>Key</a:t>
            </a:r>
            <a:r>
              <a:rPr sz="1500" b="1" spc="-2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b="1" spc="-40" dirty="0">
                <a:solidFill>
                  <a:srgbClr val="DAFFDE"/>
                </a:solidFill>
                <a:latin typeface="Trebuchet MS"/>
                <a:cs typeface="Trebuchet MS"/>
              </a:rPr>
              <a:t>Performance</a:t>
            </a:r>
            <a:r>
              <a:rPr sz="1500" b="1" spc="-2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b="1" spc="-35" dirty="0">
                <a:solidFill>
                  <a:srgbClr val="DAFFDE"/>
                </a:solidFill>
                <a:latin typeface="Trebuchet MS"/>
                <a:cs typeface="Trebuchet MS"/>
              </a:rPr>
              <a:t>Indicators</a:t>
            </a:r>
            <a:r>
              <a:rPr sz="1500" b="1" spc="-2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DAFFDE"/>
                </a:solidFill>
                <a:latin typeface="Trebuchet MS"/>
                <a:cs typeface="Trebuchet MS"/>
              </a:rPr>
              <a:t>(KPIs)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2175" y="3864539"/>
            <a:ext cx="44462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Enable</a:t>
            </a:r>
            <a:r>
              <a:rPr sz="1500" spc="-4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DAFFDE"/>
                </a:solidFill>
                <a:latin typeface="Trebuchet MS"/>
                <a:cs typeface="Trebuchet MS"/>
              </a:rPr>
              <a:t>Data-</a:t>
            </a:r>
            <a:r>
              <a:rPr sz="1500" b="1" spc="-35" dirty="0">
                <a:solidFill>
                  <a:srgbClr val="DAFFDE"/>
                </a:solidFill>
                <a:latin typeface="Trebuchet MS"/>
                <a:cs typeface="Trebuchet MS"/>
              </a:rPr>
              <a:t>Driven</a:t>
            </a:r>
            <a:r>
              <a:rPr sz="1500" b="1" spc="-4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b="1" spc="-50" dirty="0">
                <a:solidFill>
                  <a:srgbClr val="DAFFDE"/>
                </a:solidFill>
                <a:latin typeface="Trebuchet MS"/>
                <a:cs typeface="Trebuchet MS"/>
              </a:rPr>
              <a:t>Decisions</a:t>
            </a:r>
            <a:r>
              <a:rPr sz="1500" b="1" spc="-4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through</a:t>
            </a:r>
            <a:r>
              <a:rPr sz="1500" spc="-40" dirty="0">
                <a:solidFill>
                  <a:srgbClr val="DAFFDE"/>
                </a:solidFill>
                <a:latin typeface="Trebuchet MS"/>
                <a:cs typeface="Trebuchet MS"/>
              </a:rPr>
              <a:t> trend</a:t>
            </a:r>
            <a:r>
              <a:rPr sz="1500" spc="-3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analysis.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800" y="2237670"/>
            <a:ext cx="96520" cy="20066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3000" spc="-1075" dirty="0">
                <a:solidFill>
                  <a:srgbClr val="DEFF9A"/>
                </a:solidFill>
                <a:latin typeface="Trebuchet MS"/>
                <a:cs typeface="Trebuchet MS"/>
              </a:rPr>
              <a:t>•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3000" spc="-1075" dirty="0">
                <a:solidFill>
                  <a:srgbClr val="DEFF9A"/>
                </a:solidFill>
                <a:latin typeface="Trebuchet MS"/>
                <a:cs typeface="Trebuchet MS"/>
              </a:rPr>
              <a:t>•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3000" spc="-1075" dirty="0">
                <a:solidFill>
                  <a:srgbClr val="DEFF9A"/>
                </a:solidFill>
                <a:latin typeface="Trebuchet MS"/>
                <a:cs typeface="Trebuchet MS"/>
              </a:rPr>
              <a:t>•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3000" spc="-1075" dirty="0">
                <a:solidFill>
                  <a:srgbClr val="DEFF9A"/>
                </a:solidFill>
                <a:latin typeface="Trebuchet MS"/>
                <a:cs typeface="Trebuchet MS"/>
              </a:rPr>
              <a:t>•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Project</a:t>
            </a:r>
            <a:r>
              <a:rPr spc="-215" dirty="0"/>
              <a:t> </a:t>
            </a:r>
            <a:r>
              <a:rPr spc="-30" dirty="0">
                <a:solidFill>
                  <a:srgbClr val="DEFF9A"/>
                </a:solidFill>
              </a:rPr>
              <a:t>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2852" y="3869118"/>
            <a:ext cx="143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4F4F4"/>
                </a:solidFill>
                <a:latin typeface="Trebuchet MS"/>
                <a:cs typeface="Trebuchet MS"/>
              </a:rPr>
              <a:t>TOTAL</a:t>
            </a:r>
            <a:r>
              <a:rPr sz="1800" spc="5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1800" spc="85" dirty="0">
                <a:solidFill>
                  <a:srgbClr val="F4F4F4"/>
                </a:solidFill>
                <a:latin typeface="Trebuchet MS"/>
                <a:cs typeface="Trebuchet MS"/>
              </a:rPr>
              <a:t>SALES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6055" y="2792412"/>
            <a:ext cx="9723755" cy="20094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705"/>
              </a:lnSpc>
              <a:spcBef>
                <a:spcPts val="100"/>
              </a:spcBef>
              <a:tabLst>
                <a:tab pos="4128770" algn="l"/>
                <a:tab pos="7915909" algn="l"/>
              </a:tabLst>
            </a:pPr>
            <a:r>
              <a:rPr lang="en-IN" sz="4800" dirty="0">
                <a:solidFill>
                  <a:schemeClr val="accent3"/>
                </a:solidFill>
              </a:rPr>
              <a:t>125959</a:t>
            </a:r>
            <a:r>
              <a:rPr sz="7500" b="1" dirty="0">
                <a:solidFill>
                  <a:srgbClr val="DEFF9A"/>
                </a:solidFill>
                <a:latin typeface="Trebuchet MS"/>
                <a:cs typeface="Trebuchet MS"/>
              </a:rPr>
              <a:t>		</a:t>
            </a:r>
            <a:r>
              <a:rPr lang="en-IN" sz="4800" dirty="0">
                <a:solidFill>
                  <a:schemeClr val="accent3"/>
                </a:solidFill>
              </a:rPr>
              <a:t>27187</a:t>
            </a:r>
            <a:endParaRPr sz="7500" dirty="0">
              <a:solidFill>
                <a:schemeClr val="accent3"/>
              </a:solidFill>
              <a:latin typeface="Trebuchet MS"/>
              <a:cs typeface="Trebuchet MS"/>
            </a:endParaRPr>
          </a:p>
          <a:p>
            <a:pPr marL="36195" algn="ctr">
              <a:lnSpc>
                <a:spcPts val="8705"/>
              </a:lnSpc>
            </a:pPr>
            <a:r>
              <a:rPr sz="1500" dirty="0">
                <a:solidFill>
                  <a:schemeClr val="accent3"/>
                </a:solidFill>
                <a:latin typeface="Trebuchet MS"/>
                <a:cs typeface="Trebuchet MS"/>
              </a:rPr>
              <a:t>The</a:t>
            </a:r>
            <a:r>
              <a:rPr sz="1500" spc="-70" dirty="0">
                <a:solidFill>
                  <a:schemeClr val="accent3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DAFFDE"/>
                </a:solidFill>
                <a:latin typeface="Trebuchet MS"/>
                <a:cs typeface="Trebuchet MS"/>
              </a:rPr>
              <a:t>business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DAFFDE"/>
                </a:solidFill>
                <a:latin typeface="Trebuchet MS"/>
                <a:cs typeface="Trebuchet MS"/>
              </a:rPr>
              <a:t>maintains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75" dirty="0">
                <a:solidFill>
                  <a:srgbClr val="DAFFDE"/>
                </a:solidFill>
                <a:latin typeface="Trebuchet MS"/>
                <a:cs typeface="Trebuchet MS"/>
              </a:rPr>
              <a:t>a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DAFFDE"/>
                </a:solidFill>
                <a:latin typeface="Trebuchet MS"/>
                <a:cs typeface="Trebuchet MS"/>
              </a:rPr>
              <a:t>healthy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margin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with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DAFFDE"/>
                </a:solidFill>
                <a:latin typeface="Trebuchet MS"/>
                <a:cs typeface="Trebuchet MS"/>
              </a:rPr>
              <a:t>revenue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streams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across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DAFFDE"/>
                </a:solidFill>
                <a:latin typeface="Trebuchet MS"/>
                <a:cs typeface="Trebuchet MS"/>
              </a:rPr>
              <a:t>all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quarters.</a:t>
            </a:r>
            <a:endParaRPr sz="15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7263" y="3869118"/>
            <a:ext cx="5201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6795" algn="l"/>
              </a:tabLst>
            </a:pPr>
            <a:r>
              <a:rPr sz="1800" dirty="0">
                <a:solidFill>
                  <a:srgbClr val="F4F4F4"/>
                </a:solidFill>
                <a:latin typeface="Trebuchet MS"/>
                <a:cs typeface="Trebuchet MS"/>
              </a:rPr>
              <a:t>	</a:t>
            </a:r>
            <a:r>
              <a:rPr sz="1800" spc="-20" dirty="0">
                <a:solidFill>
                  <a:srgbClr val="F4F4F4"/>
                </a:solidFill>
                <a:latin typeface="Trebuchet MS"/>
                <a:cs typeface="Trebuchet MS"/>
              </a:rPr>
              <a:t>PROFIT</a:t>
            </a:r>
            <a:r>
              <a:rPr sz="1800" spc="-9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F4F4F4"/>
                </a:solidFill>
                <a:latin typeface="Trebuchet MS"/>
                <a:cs typeface="Trebuchet MS"/>
              </a:rPr>
              <a:t>MARGIN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Executive</a:t>
            </a:r>
            <a:r>
              <a:rPr spc="-210" dirty="0"/>
              <a:t> </a:t>
            </a:r>
            <a:r>
              <a:rPr spc="130" dirty="0">
                <a:solidFill>
                  <a:srgbClr val="DEFF9A"/>
                </a:solidFill>
              </a:rPr>
              <a:t>Summary</a:t>
            </a:r>
            <a:r>
              <a:rPr spc="-210" dirty="0">
                <a:solidFill>
                  <a:srgbClr val="DEFF9A"/>
                </a:solidFill>
              </a:rPr>
              <a:t> </a:t>
            </a:r>
            <a:r>
              <a:rPr spc="-50" dirty="0"/>
              <a:t>(KPIs)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11287" y="2650459"/>
            <a:ext cx="6370955" cy="186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285" dirty="0">
                <a:latin typeface="Trebuchet MS"/>
                <a:cs typeface="Trebuchet MS"/>
              </a:rPr>
              <a:t>02.</a:t>
            </a:r>
            <a:r>
              <a:rPr sz="6000" b="1" spc="-375" dirty="0">
                <a:latin typeface="Trebuchet MS"/>
                <a:cs typeface="Trebuchet MS"/>
              </a:rPr>
              <a:t> </a:t>
            </a:r>
            <a:r>
              <a:rPr sz="6000" b="1" spc="-25" dirty="0">
                <a:latin typeface="Trebuchet MS"/>
                <a:cs typeface="Trebuchet MS"/>
              </a:rPr>
              <a:t>Visual</a:t>
            </a:r>
            <a:r>
              <a:rPr sz="6000" b="1" spc="-390" dirty="0">
                <a:latin typeface="Trebuchet MS"/>
                <a:cs typeface="Trebuchet MS"/>
              </a:rPr>
              <a:t> </a:t>
            </a:r>
            <a:r>
              <a:rPr sz="6000" b="1" spc="-30" dirty="0">
                <a:latin typeface="Trebuchet MS"/>
                <a:cs typeface="Trebuchet MS"/>
              </a:rPr>
              <a:t>Analysis</a:t>
            </a:r>
            <a:endParaRPr sz="6000">
              <a:latin typeface="Trebuchet MS"/>
              <a:cs typeface="Trebuchet MS"/>
            </a:endParaRPr>
          </a:p>
          <a:p>
            <a:pPr marL="2501900" marR="1184910" indent="-1310005">
              <a:lnSpc>
                <a:spcPct val="159900"/>
              </a:lnSpc>
              <a:spcBef>
                <a:spcPts val="375"/>
              </a:spcBef>
            </a:pPr>
            <a:r>
              <a:rPr sz="1800" dirty="0">
                <a:solidFill>
                  <a:srgbClr val="DAFFDE"/>
                </a:solidFill>
              </a:rPr>
              <a:t>Deep</a:t>
            </a:r>
            <a:r>
              <a:rPr sz="1800" spc="-65" dirty="0">
                <a:solidFill>
                  <a:srgbClr val="DAFFDE"/>
                </a:solidFill>
              </a:rPr>
              <a:t> </a:t>
            </a:r>
            <a:r>
              <a:rPr sz="1800" spc="-30" dirty="0">
                <a:solidFill>
                  <a:srgbClr val="DAFFDE"/>
                </a:solidFill>
              </a:rPr>
              <a:t>dive</a:t>
            </a:r>
            <a:r>
              <a:rPr sz="1800" spc="-65" dirty="0">
                <a:solidFill>
                  <a:srgbClr val="DAFFDE"/>
                </a:solidFill>
              </a:rPr>
              <a:t> </a:t>
            </a:r>
            <a:r>
              <a:rPr sz="1800" spc="-75" dirty="0">
                <a:solidFill>
                  <a:srgbClr val="DAFFDE"/>
                </a:solidFill>
              </a:rPr>
              <a:t>into</a:t>
            </a:r>
            <a:r>
              <a:rPr sz="1800" spc="-65" dirty="0">
                <a:solidFill>
                  <a:srgbClr val="DAFFDE"/>
                </a:solidFill>
              </a:rPr>
              <a:t> </a:t>
            </a:r>
            <a:r>
              <a:rPr sz="1800" dirty="0">
                <a:solidFill>
                  <a:srgbClr val="DAFFDE"/>
                </a:solidFill>
              </a:rPr>
              <a:t>sales</a:t>
            </a:r>
            <a:r>
              <a:rPr sz="1800" spc="-65" dirty="0">
                <a:solidFill>
                  <a:srgbClr val="DAFFDE"/>
                </a:solidFill>
              </a:rPr>
              <a:t> </a:t>
            </a:r>
            <a:r>
              <a:rPr sz="1800" spc="-30" dirty="0">
                <a:solidFill>
                  <a:srgbClr val="DAFFDE"/>
                </a:solidFill>
              </a:rPr>
              <a:t>trends</a:t>
            </a:r>
            <a:r>
              <a:rPr sz="1800" spc="-65" dirty="0">
                <a:solidFill>
                  <a:srgbClr val="DAFFDE"/>
                </a:solidFill>
              </a:rPr>
              <a:t> </a:t>
            </a:r>
            <a:r>
              <a:rPr sz="1800" dirty="0">
                <a:solidFill>
                  <a:srgbClr val="DAFFDE"/>
                </a:solidFill>
              </a:rPr>
              <a:t>and</a:t>
            </a:r>
            <a:r>
              <a:rPr sz="1800" spc="-60" dirty="0">
                <a:solidFill>
                  <a:srgbClr val="DAFFDE"/>
                </a:solidFill>
              </a:rPr>
              <a:t> </a:t>
            </a:r>
            <a:r>
              <a:rPr sz="1800" spc="-10" dirty="0">
                <a:solidFill>
                  <a:srgbClr val="DAFFDE"/>
                </a:solidFill>
              </a:rPr>
              <a:t>regional performance.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695450"/>
            <a:ext cx="11048999" cy="380999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object 5"/>
          <p:cNvSpPr txBox="1"/>
          <p:nvPr/>
        </p:nvSpPr>
        <p:spPr>
          <a:xfrm>
            <a:off x="558800" y="5770880"/>
            <a:ext cx="81788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DAFFDE"/>
                </a:solidFill>
                <a:latin typeface="Trebuchet MS"/>
                <a:cs typeface="Trebuchet MS"/>
              </a:rPr>
              <a:t>Insight:</a:t>
            </a:r>
            <a:r>
              <a:rPr sz="1500" b="1" spc="-5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Monthly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sales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show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75" dirty="0">
                <a:solidFill>
                  <a:srgbClr val="DAFFDE"/>
                </a:solidFill>
                <a:latin typeface="Trebuchet MS"/>
                <a:cs typeface="Trebuchet MS"/>
              </a:rPr>
              <a:t>a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steady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DAFFDE"/>
                </a:solidFill>
                <a:latin typeface="Trebuchet MS"/>
                <a:cs typeface="Trebuchet MS"/>
              </a:rPr>
              <a:t>15%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growth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DAFFDE"/>
                </a:solidFill>
                <a:latin typeface="Trebuchet MS"/>
                <a:cs typeface="Trebuchet MS"/>
              </a:rPr>
              <a:t>rate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with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significant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peaks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during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festive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seasons.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Sales</a:t>
            </a:r>
            <a:r>
              <a:rPr spc="-195" dirty="0"/>
              <a:t> </a:t>
            </a:r>
            <a:r>
              <a:rPr spc="-50" dirty="0">
                <a:solidFill>
                  <a:srgbClr val="DEFF9A"/>
                </a:solidFill>
              </a:rPr>
              <a:t>Trend</a:t>
            </a:r>
            <a:r>
              <a:rPr spc="-195" dirty="0">
                <a:solidFill>
                  <a:srgbClr val="DEFF9A"/>
                </a:solidFill>
              </a:rPr>
              <a:t> </a:t>
            </a:r>
            <a:r>
              <a:rPr spc="-10" dirty="0"/>
              <a:t>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500339-DAA7-73F5-B193-98A363C9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945" y="1667932"/>
            <a:ext cx="7650899" cy="38375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Category</a:t>
            </a:r>
            <a:r>
              <a:rPr spc="-200" dirty="0"/>
              <a:t> </a:t>
            </a:r>
            <a:r>
              <a:rPr spc="-10" dirty="0">
                <a:solidFill>
                  <a:srgbClr val="DEFF9A"/>
                </a:solidFill>
              </a:rPr>
              <a:t>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9592D-7D0A-F45A-6664-C77A952ADC44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A51E4F-83C7-44D9-9CF3-BBD1A509A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2103117"/>
            <a:ext cx="9043434" cy="26517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8800" y="1883536"/>
            <a:ext cx="2750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Regional</a:t>
            </a:r>
            <a:r>
              <a:rPr spc="-195" dirty="0"/>
              <a:t> </a:t>
            </a:r>
            <a:r>
              <a:rPr spc="-20" dirty="0">
                <a:solidFill>
                  <a:srgbClr val="DEFF9A"/>
                </a:solidFill>
              </a:rPr>
              <a:t>Split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800" y="2827654"/>
            <a:ext cx="483743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The</a:t>
            </a:r>
            <a:r>
              <a:rPr sz="1500" spc="-7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"East"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and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"West"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DAFFDE"/>
                </a:solidFill>
                <a:latin typeface="Trebuchet MS"/>
                <a:cs typeface="Trebuchet MS"/>
              </a:rPr>
              <a:t>regions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account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AFFDE"/>
                </a:solidFill>
                <a:latin typeface="Trebuchet MS"/>
                <a:cs typeface="Trebuchet MS"/>
              </a:rPr>
              <a:t>for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DAFFDE"/>
                </a:solidFill>
                <a:latin typeface="Trebuchet MS"/>
                <a:cs typeface="Trebuchet MS"/>
              </a:rPr>
              <a:t>over</a:t>
            </a:r>
            <a:r>
              <a:rPr sz="1500" spc="-7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55" dirty="0">
                <a:solidFill>
                  <a:srgbClr val="DAFFDE"/>
                </a:solidFill>
                <a:latin typeface="Trebuchet MS"/>
                <a:cs typeface="Trebuchet MS"/>
              </a:rPr>
              <a:t>60%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of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the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</a:pPr>
            <a:r>
              <a:rPr sz="1500" spc="-55" dirty="0">
                <a:solidFill>
                  <a:srgbClr val="DAFFDE"/>
                </a:solidFill>
                <a:latin typeface="Trebuchet MS"/>
                <a:cs typeface="Trebuchet MS"/>
              </a:rPr>
              <a:t>total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AFFDE"/>
                </a:solidFill>
                <a:latin typeface="Trebuchet MS"/>
                <a:cs typeface="Trebuchet MS"/>
              </a:rPr>
              <a:t>profit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margin,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DAFFDE"/>
                </a:solidFill>
                <a:latin typeface="Trebuchet MS"/>
                <a:cs typeface="Trebuchet MS"/>
              </a:rPr>
              <a:t>indicating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strong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market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AFFDE"/>
                </a:solidFill>
                <a:latin typeface="Trebuchet MS"/>
                <a:cs typeface="Trebuchet MS"/>
              </a:rPr>
              <a:t>penetration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in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coastal</a:t>
            </a:r>
            <a:r>
              <a:rPr sz="1500" spc="-7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urban</a:t>
            </a:r>
            <a:r>
              <a:rPr sz="1500" spc="-7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centers.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0"/>
            <a:ext cx="6095999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2175" y="3932554"/>
            <a:ext cx="28879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5" dirty="0">
                <a:solidFill>
                  <a:srgbClr val="DAFFDE"/>
                </a:solidFill>
                <a:latin typeface="Trebuchet MS"/>
                <a:cs typeface="Trebuchet MS"/>
              </a:rPr>
              <a:t>East:</a:t>
            </a:r>
            <a:r>
              <a:rPr sz="1500" b="1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High-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value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DAFFDE"/>
                </a:solidFill>
                <a:latin typeface="Trebuchet MS"/>
                <a:cs typeface="Trebuchet MS"/>
              </a:rPr>
              <a:t>enterprise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orders.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2175" y="4427854"/>
            <a:ext cx="2961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85" dirty="0">
                <a:solidFill>
                  <a:srgbClr val="DAFFDE"/>
                </a:solidFill>
                <a:latin typeface="Trebuchet MS"/>
                <a:cs typeface="Trebuchet MS"/>
              </a:rPr>
              <a:t>West:</a:t>
            </a:r>
            <a:r>
              <a:rPr sz="1500" b="1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High-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frequency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DAFFDE"/>
                </a:solidFill>
                <a:latin typeface="Trebuchet MS"/>
                <a:cs typeface="Trebuchet MS"/>
              </a:rPr>
              <a:t>retail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growth.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800" y="3791585"/>
            <a:ext cx="96520" cy="10160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3000" spc="-1075" dirty="0">
                <a:solidFill>
                  <a:srgbClr val="DEFF9A"/>
                </a:solidFill>
                <a:latin typeface="Trebuchet MS"/>
                <a:cs typeface="Trebuchet MS"/>
              </a:rPr>
              <a:t>•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3000" spc="-1075" dirty="0">
                <a:solidFill>
                  <a:srgbClr val="DEFF9A"/>
                </a:solidFill>
                <a:latin typeface="Trebuchet MS"/>
                <a:cs typeface="Trebuchet MS"/>
              </a:rPr>
              <a:t>•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0" y="2324100"/>
            <a:ext cx="4952999" cy="1476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7500" y="3990975"/>
            <a:ext cx="4952999" cy="14763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343024" cy="1809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654800" y="1359661"/>
            <a:ext cx="3199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Technical</a:t>
            </a:r>
            <a:r>
              <a:rPr spc="-140" dirty="0"/>
              <a:t> </a:t>
            </a:r>
            <a:r>
              <a:rPr spc="65" dirty="0">
                <a:solidFill>
                  <a:srgbClr val="DEFF9A"/>
                </a:solidFill>
              </a:rPr>
              <a:t>Stack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54825" y="2500757"/>
            <a:ext cx="4544695" cy="27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100"/>
              </a:spcBef>
            </a:pPr>
            <a:r>
              <a:rPr sz="2100" spc="-35" dirty="0">
                <a:solidFill>
                  <a:srgbClr val="DEFF9A"/>
                </a:solidFill>
                <a:latin typeface="Trebuchet MS"/>
                <a:cs typeface="Trebuchet MS"/>
              </a:rPr>
              <a:t>Python</a:t>
            </a:r>
            <a:r>
              <a:rPr sz="2100" spc="-130" dirty="0">
                <a:solidFill>
                  <a:srgbClr val="DEFF9A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DEFF9A"/>
                </a:solidFill>
                <a:latin typeface="Trebuchet MS"/>
                <a:cs typeface="Trebuchet MS"/>
              </a:rPr>
              <a:t>&amp;</a:t>
            </a:r>
            <a:r>
              <a:rPr sz="2100" spc="-125" dirty="0">
                <a:solidFill>
                  <a:srgbClr val="DEFF9A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DEFF9A"/>
                </a:solidFill>
                <a:latin typeface="Trebuchet MS"/>
                <a:cs typeface="Trebuchet MS"/>
              </a:rPr>
              <a:t>Pandas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95"/>
              </a:spcBef>
            </a:pP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Efficient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data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DAFFDE"/>
                </a:solidFill>
                <a:latin typeface="Trebuchet MS"/>
                <a:cs typeface="Trebuchet MS"/>
              </a:rPr>
              <a:t>cleaning</a:t>
            </a:r>
            <a:r>
              <a:rPr sz="1500" spc="-4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and</a:t>
            </a:r>
            <a:r>
              <a:rPr sz="1500" spc="-4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mathematical</a:t>
            </a:r>
            <a:r>
              <a:rPr sz="1500" spc="-4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aggregation of</a:t>
            </a:r>
            <a:r>
              <a:rPr sz="1500" spc="-6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AFFDE"/>
                </a:solidFill>
                <a:latin typeface="Trebuchet MS"/>
                <a:cs typeface="Trebuchet MS"/>
              </a:rPr>
              <a:t>financial</a:t>
            </a:r>
            <a:r>
              <a:rPr sz="1500" spc="-6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metrics.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500">
              <a:latin typeface="Trebuchet MS"/>
              <a:cs typeface="Trebuchet MS"/>
            </a:endParaRPr>
          </a:p>
          <a:p>
            <a:pPr marL="317500">
              <a:lnSpc>
                <a:spcPct val="100000"/>
              </a:lnSpc>
            </a:pPr>
            <a:r>
              <a:rPr sz="2100" spc="-95" dirty="0">
                <a:solidFill>
                  <a:srgbClr val="DEFF9A"/>
                </a:solidFill>
                <a:latin typeface="Trebuchet MS"/>
                <a:cs typeface="Trebuchet MS"/>
              </a:rPr>
              <a:t>Plotly</a:t>
            </a:r>
            <a:r>
              <a:rPr sz="2100" spc="-105" dirty="0">
                <a:solidFill>
                  <a:srgbClr val="DEFF9A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DEFF9A"/>
                </a:solidFill>
                <a:latin typeface="Trebuchet MS"/>
                <a:cs typeface="Trebuchet MS"/>
              </a:rPr>
              <a:t>Express</a:t>
            </a:r>
            <a:endParaRPr sz="2100">
              <a:latin typeface="Trebuchet MS"/>
              <a:cs typeface="Trebuchet MS"/>
            </a:endParaRPr>
          </a:p>
          <a:p>
            <a:pPr marL="12700" marR="212090">
              <a:lnSpc>
                <a:spcPct val="160000"/>
              </a:lnSpc>
              <a:spcBef>
                <a:spcPts val="100"/>
              </a:spcBef>
            </a:pP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Generating</a:t>
            </a:r>
            <a:r>
              <a:rPr sz="1500" spc="-1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DAFFDE"/>
                </a:solidFill>
                <a:latin typeface="Trebuchet MS"/>
                <a:cs typeface="Trebuchet MS"/>
              </a:rPr>
              <a:t>interactive,</a:t>
            </a:r>
            <a:r>
              <a:rPr sz="1500" spc="-1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DAFFDE"/>
                </a:solidFill>
                <a:latin typeface="Trebuchet MS"/>
                <a:cs typeface="Trebuchet MS"/>
              </a:rPr>
              <a:t>D3.js</a:t>
            </a:r>
            <a:r>
              <a:rPr sz="1500" spc="-1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based</a:t>
            </a:r>
            <a:r>
              <a:rPr sz="1500" spc="-1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DAFFDE"/>
                </a:solidFill>
                <a:latin typeface="Trebuchet MS"/>
                <a:cs typeface="Trebuchet MS"/>
              </a:rPr>
              <a:t>visualizations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AFFDE"/>
                </a:solidFill>
                <a:latin typeface="Trebuchet MS"/>
                <a:cs typeface="Trebuchet MS"/>
              </a:rPr>
              <a:t>for </a:t>
            </a:r>
            <a:r>
              <a:rPr sz="1500" dirty="0">
                <a:solidFill>
                  <a:srgbClr val="DAFFDE"/>
                </a:solidFill>
                <a:latin typeface="Trebuchet MS"/>
                <a:cs typeface="Trebuchet MS"/>
              </a:rPr>
              <a:t>web</a:t>
            </a:r>
            <a:r>
              <a:rPr sz="1500" spc="3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AFFDE"/>
                </a:solidFill>
                <a:latin typeface="Trebuchet MS"/>
                <a:cs typeface="Trebuchet MS"/>
              </a:rPr>
              <a:t>compatibility.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7525" y="2552700"/>
            <a:ext cx="238124" cy="2666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67525" y="4219575"/>
            <a:ext cx="304799" cy="2666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pc="380" dirty="0"/>
              <a:t>Q&amp;A</a:t>
            </a:r>
          </a:p>
          <a:p>
            <a:pPr marL="12700" marR="5080" algn="ctr">
              <a:lnSpc>
                <a:spcPct val="159900"/>
              </a:lnSpc>
              <a:spcBef>
                <a:spcPts val="434"/>
              </a:spcBef>
            </a:pPr>
            <a:r>
              <a:rPr sz="1800" b="0" dirty="0">
                <a:solidFill>
                  <a:srgbClr val="DAFFDE"/>
                </a:solidFill>
                <a:latin typeface="Trebuchet MS"/>
                <a:cs typeface="Trebuchet MS"/>
              </a:rPr>
              <a:t>Thank</a:t>
            </a:r>
            <a:r>
              <a:rPr sz="1800" b="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30" dirty="0">
                <a:solidFill>
                  <a:srgbClr val="DAFFDE"/>
                </a:solidFill>
                <a:latin typeface="Trebuchet MS"/>
                <a:cs typeface="Trebuchet MS"/>
              </a:rPr>
              <a:t>you</a:t>
            </a:r>
            <a:r>
              <a:rPr sz="1800" b="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45" dirty="0">
                <a:solidFill>
                  <a:srgbClr val="DAFFDE"/>
                </a:solidFill>
                <a:latin typeface="Trebuchet MS"/>
                <a:cs typeface="Trebuchet MS"/>
              </a:rPr>
              <a:t>for</a:t>
            </a:r>
            <a:r>
              <a:rPr sz="1800" b="0" spc="-7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35" dirty="0">
                <a:solidFill>
                  <a:srgbClr val="DAFFDE"/>
                </a:solidFill>
                <a:latin typeface="Trebuchet MS"/>
                <a:cs typeface="Trebuchet MS"/>
              </a:rPr>
              <a:t>your</a:t>
            </a:r>
            <a:r>
              <a:rPr sz="1800" b="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114" dirty="0">
                <a:solidFill>
                  <a:srgbClr val="DAFFDE"/>
                </a:solidFill>
                <a:latin typeface="Trebuchet MS"/>
                <a:cs typeface="Trebuchet MS"/>
              </a:rPr>
              <a:t>time.</a:t>
            </a:r>
            <a:r>
              <a:rPr sz="1800" b="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100" dirty="0">
                <a:solidFill>
                  <a:srgbClr val="DAFFDE"/>
                </a:solidFill>
                <a:latin typeface="Trebuchet MS"/>
                <a:cs typeface="Trebuchet MS"/>
              </a:rPr>
              <a:t>Feel</a:t>
            </a:r>
            <a:r>
              <a:rPr sz="1800" b="0" spc="-7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45" dirty="0">
                <a:solidFill>
                  <a:srgbClr val="DAFFDE"/>
                </a:solidFill>
                <a:latin typeface="Trebuchet MS"/>
                <a:cs typeface="Trebuchet MS"/>
              </a:rPr>
              <a:t>free</a:t>
            </a:r>
            <a:r>
              <a:rPr sz="1800" b="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45" dirty="0">
                <a:solidFill>
                  <a:srgbClr val="DAFFDE"/>
                </a:solidFill>
                <a:latin typeface="Trebuchet MS"/>
                <a:cs typeface="Trebuchet MS"/>
              </a:rPr>
              <a:t>to</a:t>
            </a:r>
            <a:r>
              <a:rPr sz="1800" b="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dirty="0">
                <a:solidFill>
                  <a:srgbClr val="DAFFDE"/>
                </a:solidFill>
                <a:latin typeface="Trebuchet MS"/>
                <a:cs typeface="Trebuchet MS"/>
              </a:rPr>
              <a:t>ask</a:t>
            </a:r>
            <a:r>
              <a:rPr sz="1800" b="0" spc="-7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dirty="0">
                <a:solidFill>
                  <a:srgbClr val="DAFFDE"/>
                </a:solidFill>
                <a:latin typeface="Trebuchet MS"/>
                <a:cs typeface="Trebuchet MS"/>
              </a:rPr>
              <a:t>any</a:t>
            </a:r>
            <a:r>
              <a:rPr sz="1800" b="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30" dirty="0">
                <a:solidFill>
                  <a:srgbClr val="DAFFDE"/>
                </a:solidFill>
                <a:latin typeface="Trebuchet MS"/>
                <a:cs typeface="Trebuchet MS"/>
              </a:rPr>
              <a:t>questions</a:t>
            </a:r>
            <a:r>
              <a:rPr sz="1800" b="0" spc="-8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10" dirty="0">
                <a:solidFill>
                  <a:srgbClr val="DAFFDE"/>
                </a:solidFill>
                <a:latin typeface="Trebuchet MS"/>
                <a:cs typeface="Trebuchet MS"/>
              </a:rPr>
              <a:t>regarding</a:t>
            </a:r>
            <a:r>
              <a:rPr sz="1800" b="0" spc="-7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25" dirty="0">
                <a:solidFill>
                  <a:srgbClr val="DAFFDE"/>
                </a:solidFill>
                <a:latin typeface="Trebuchet MS"/>
                <a:cs typeface="Trebuchet MS"/>
              </a:rPr>
              <a:t>the </a:t>
            </a:r>
            <a:r>
              <a:rPr sz="1800" b="0" dirty="0">
                <a:solidFill>
                  <a:srgbClr val="DAFFDE"/>
                </a:solidFill>
                <a:latin typeface="Trebuchet MS"/>
                <a:cs typeface="Trebuchet MS"/>
              </a:rPr>
              <a:t>dashboard</a:t>
            </a:r>
            <a:r>
              <a:rPr sz="1800" b="0" spc="-10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40" dirty="0">
                <a:solidFill>
                  <a:srgbClr val="DAFFDE"/>
                </a:solidFill>
                <a:latin typeface="Trebuchet MS"/>
                <a:cs typeface="Trebuchet MS"/>
              </a:rPr>
              <a:t>logic</a:t>
            </a:r>
            <a:r>
              <a:rPr sz="1800" b="0" spc="-5" dirty="0">
                <a:solidFill>
                  <a:srgbClr val="DAFFDE"/>
                </a:solidFill>
                <a:latin typeface="Trebuchet MS"/>
                <a:cs typeface="Trebuchet MS"/>
              </a:rPr>
              <a:t> </a:t>
            </a:r>
            <a:r>
              <a:rPr sz="1800" b="0" spc="-20" dirty="0">
                <a:solidFill>
                  <a:srgbClr val="DAFFDE"/>
                </a:solidFill>
                <a:latin typeface="Trebuchet MS"/>
                <a:cs typeface="Trebuchet MS"/>
              </a:rPr>
              <a:t>or</a:t>
            </a:r>
            <a:r>
              <a:rPr sz="1800" b="0" spc="-10" dirty="0">
                <a:solidFill>
                  <a:srgbClr val="DAFFDE"/>
                </a:solidFill>
                <a:latin typeface="Trebuchet MS"/>
                <a:cs typeface="Trebuchet MS"/>
              </a:rPr>
              <a:t> analysis.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258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Trebuchet MS</vt:lpstr>
      <vt:lpstr>Office Theme</vt:lpstr>
      <vt:lpstr>Task 3: Interactive Dashboard Summary A comprehensive data analysis of sales &amp; financial performance using Google Colab and Python libraries.</vt:lpstr>
      <vt:lpstr>Presentation Agenda</vt:lpstr>
      <vt:lpstr>01. Business Context</vt:lpstr>
      <vt:lpstr>Project Objectives</vt:lpstr>
      <vt:lpstr>Executive Summary (KPIs)</vt:lpstr>
      <vt:lpstr>02. Visual Analysis Deep dive into sales trends and regional performance.</vt:lpstr>
      <vt:lpstr>Sales Trend Analysis</vt:lpstr>
      <vt:lpstr>Category Performance</vt:lpstr>
      <vt:lpstr>Regional Split</vt:lpstr>
      <vt:lpstr>Technical Stack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Task 3 Summary</dc:title>
  <cp:lastModifiedBy>Ajay Arya</cp:lastModifiedBy>
  <cp:revision>1</cp:revision>
  <dcterms:created xsi:type="dcterms:W3CDTF">2026-06-19T13:56:39Z</dcterms:created>
  <dcterms:modified xsi:type="dcterms:W3CDTF">2026-06-19T14:27:52Z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2026-06-19T00:00:00Z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2026-06-19T00:00:00Z</vt:filetime>
  </property>
</Properties>
</file>